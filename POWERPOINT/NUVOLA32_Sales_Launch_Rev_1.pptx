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07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21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4572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457200"/>
            <a:ext cx="73152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MAKERSUN.NET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749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" y="115471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NUVOLA32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320040" y="204625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Breakout Board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004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DREAM. CODE. CREATE.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3657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D2418"/>
          </a:solidFill>
          <a:ln w="12700">
            <a:solidFill>
              <a:srgbClr val="C45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ESP32-S3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325880" y="3657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D2418"/>
          </a:solidFill>
          <a:ln w="12700">
            <a:solidFill>
              <a:srgbClr val="C45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N16R8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331720" y="3657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D2418"/>
          </a:solidFill>
          <a:ln w="12700">
            <a:solidFill>
              <a:srgbClr val="C454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3172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Wi-Fi + BT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337560" y="3657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D2418"/>
          </a:solidFill>
          <a:ln w="12700">
            <a:solidFill>
              <a:srgbClr val="C454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Case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004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Manufactured by PCBWay</a:t>
            </a:r>
            <a:endParaRPr lang="en-US" sz="900" dirty="0"/>
          </a:p>
        </p:txBody>
      </p:sp>
      <p:sp>
        <p:nvSpPr>
          <p:cNvPr id="99" name="ImgBg"/>
          <p:cNvSpPr/>
          <p:nvPr/>
        </p:nvSpPr>
        <p:spPr>
          <a:xfrm>
            <a:off x="4754880" y="0"/>
            <a:ext cx="533412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5244FA4D-4BCC-A1AB-FCA9-8B479D36C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1" y="336645"/>
            <a:ext cx="3857625" cy="4463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931920" y="-179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NUVOLA32 — ESP32-S3 Breakout Board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89120" y="3035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NUVOLA32?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389120" y="5064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NUVOLA32 is a powerful development board based on the ESP32-S3, designed for makers, hobbyists, and professional developers who want to rapidly prototype IoT devices, audio systems, gaming consoles, and display interfaces — all on a single compact board.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578591"/>
            <a:ext cx="2103120" cy="96012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0" y="1578591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1651743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Arial Black" pitchFamily="34" charset="0"/>
              </a:rPr>
              <a:t>2.4” DISPLAY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26280" y="212723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ILI9341 TFT Display on SPI1 Interface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75120" y="1578591"/>
            <a:ext cx="2103120" cy="96012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0" y="1578591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1651743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SD Card 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812280" y="212723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SPI0 Interface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0" y="2675871"/>
            <a:ext cx="2103120" cy="96012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2675871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7992" y="269873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LED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507992" y="311478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 x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CharliePlexing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on GPIO 3 9 10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75120" y="2675871"/>
            <a:ext cx="2103120" cy="96012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1" name="Shape 18"/>
          <p:cNvSpPr/>
          <p:nvPr/>
        </p:nvSpPr>
        <p:spPr>
          <a:xfrm>
            <a:off x="6675120" y="2675871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267587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3W AUDIO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812280" y="325194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PCM5102 I2S DAC + Class-D Audio Amplifier + Speaker + Side Volume Pot</a:t>
            </a:r>
            <a:endParaRPr lang="en-US" sz="100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78452F13-C80F-74AD-174E-D51F5006D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6" y="868680"/>
            <a:ext cx="2070708" cy="19476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4D526B79-53E9-C594-D117-EB83227BCD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00" b="240"/>
          <a:stretch>
            <a:fillRect/>
          </a:stretch>
        </p:blipFill>
        <p:spPr>
          <a:xfrm>
            <a:off x="2315463" y="2518263"/>
            <a:ext cx="1903095" cy="2016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88E8AE2E-FD9C-B48B-0221-98BA9397A6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969"/>
          <a:stretch>
            <a:fillRect/>
          </a:stretch>
        </p:blipFill>
        <p:spPr>
          <a:xfrm>
            <a:off x="316487" y="2957015"/>
            <a:ext cx="1551153" cy="180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679EA398-6B0D-BEDA-CEBB-99192FA7A1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1" r="1173" b="11889"/>
          <a:stretch>
            <a:fillRect/>
          </a:stretch>
        </p:blipFill>
        <p:spPr>
          <a:xfrm>
            <a:off x="2507932" y="342900"/>
            <a:ext cx="1518158" cy="18143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2" name="Shape 13">
            <a:extLst>
              <a:ext uri="{FF2B5EF4-FFF2-40B4-BE49-F238E27FC236}">
                <a16:creationId xmlns:a16="http://schemas.microsoft.com/office/drawing/2014/main" id="{DEF80DF9-04BA-C7F7-8A7C-67E6EA6BFF47}"/>
              </a:ext>
            </a:extLst>
          </p:cNvPr>
          <p:cNvSpPr/>
          <p:nvPr/>
        </p:nvSpPr>
        <p:spPr>
          <a:xfrm>
            <a:off x="4389120" y="3767237"/>
            <a:ext cx="2103120" cy="96012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0B61D3C0-FC3E-46B9-751D-3AD63A9DFD1A}"/>
              </a:ext>
            </a:extLst>
          </p:cNvPr>
          <p:cNvSpPr/>
          <p:nvPr/>
        </p:nvSpPr>
        <p:spPr>
          <a:xfrm>
            <a:off x="4389120" y="3767237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DDD87C4-53A1-25A5-F349-62581E1BBA05}"/>
              </a:ext>
            </a:extLst>
          </p:cNvPr>
          <p:cNvSpPr/>
          <p:nvPr/>
        </p:nvSpPr>
        <p:spPr>
          <a:xfrm>
            <a:off x="4526280" y="3840389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USB-C</a:t>
            </a:r>
            <a:endParaRPr lang="en-US" sz="2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9DC47336-7D76-5AF5-1190-0905A467972B}"/>
              </a:ext>
            </a:extLst>
          </p:cNvPr>
          <p:cNvSpPr/>
          <p:nvPr/>
        </p:nvSpPr>
        <p:spPr>
          <a:xfrm>
            <a:off x="4526280" y="431587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CH340C for Arduino IDE / IDF</a:t>
            </a:r>
            <a:endParaRPr lang="en-US" sz="1000" dirty="0"/>
          </a:p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Auto-reset circuit for easy upload</a:t>
            </a:r>
            <a:endParaRPr lang="en-US" sz="10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F05F094D-B479-682D-A17A-1368D05563E2}"/>
              </a:ext>
            </a:extLst>
          </p:cNvPr>
          <p:cNvSpPr/>
          <p:nvPr/>
        </p:nvSpPr>
        <p:spPr>
          <a:xfrm>
            <a:off x="6675120" y="3777928"/>
            <a:ext cx="2103120" cy="96012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F2916369-14C0-D2E2-D51C-72FFA05F4F4A}"/>
              </a:ext>
            </a:extLst>
          </p:cNvPr>
          <p:cNvSpPr/>
          <p:nvPr/>
        </p:nvSpPr>
        <p:spPr>
          <a:xfrm>
            <a:off x="6675120" y="3777928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94AEBB6-D9DD-3B87-B71E-85368CBE3C2C}"/>
              </a:ext>
            </a:extLst>
          </p:cNvPr>
          <p:cNvSpPr/>
          <p:nvPr/>
        </p:nvSpPr>
        <p:spPr>
          <a:xfrm>
            <a:off x="6812280" y="3851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Arial Black" pitchFamily="34" charset="0"/>
              </a:rPr>
              <a:t>LiPo Battery</a:t>
            </a:r>
            <a:endParaRPr lang="en-US" sz="20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A1C84114-4B7A-AA9D-1019-FD339B6BB07B}"/>
              </a:ext>
            </a:extLst>
          </p:cNvPr>
          <p:cNvSpPr/>
          <p:nvPr/>
        </p:nvSpPr>
        <p:spPr>
          <a:xfrm>
            <a:off x="6812280" y="4326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USB/Battery automatic power selection + Charge LED Indicator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BD9637E-223B-7EEC-F207-F9AB3DA9D5D0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5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0960B53-71F3-BB87-D631-B6769FEA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93" y="693817"/>
            <a:ext cx="1721172" cy="1852684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CEF30EF0-B1B8-49E4-1C9E-0B51AD42954F}"/>
              </a:ext>
            </a:extLst>
          </p:cNvPr>
          <p:cNvSpPr/>
          <p:nvPr/>
        </p:nvSpPr>
        <p:spPr>
          <a:xfrm>
            <a:off x="365760" y="2711469"/>
            <a:ext cx="1635912" cy="1934936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32">
            <a:extLst>
              <a:ext uri="{FF2B5EF4-FFF2-40B4-BE49-F238E27FC236}">
                <a16:creationId xmlns:a16="http://schemas.microsoft.com/office/drawing/2014/main" id="{36F1A574-D679-F08D-B57B-96E8C064E71B}"/>
              </a:ext>
            </a:extLst>
          </p:cNvPr>
          <p:cNvSpPr/>
          <p:nvPr/>
        </p:nvSpPr>
        <p:spPr>
          <a:xfrm>
            <a:off x="460488" y="278024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Expansion Slot</a:t>
            </a:r>
            <a:endParaRPr lang="en-US" sz="11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3A85D0C2-EC16-DBC7-36DE-8E4E4760E371}"/>
              </a:ext>
            </a:extLst>
          </p:cNvPr>
          <p:cNvSpPr/>
          <p:nvPr/>
        </p:nvSpPr>
        <p:spPr>
          <a:xfrm>
            <a:off x="475488" y="3068085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VCC</a:t>
            </a:r>
            <a:endParaRPr lang="en-US" sz="10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25D45154-2BE5-86FA-A101-D3AACD92155D}"/>
              </a:ext>
            </a:extLst>
          </p:cNvPr>
          <p:cNvSpPr/>
          <p:nvPr/>
        </p:nvSpPr>
        <p:spPr>
          <a:xfrm>
            <a:off x="475488" y="3186957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GND</a:t>
            </a:r>
            <a:endParaRPr lang="en-US" sz="100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83496A55-B9E9-CE8A-1CA5-A2C4A459442C}"/>
              </a:ext>
            </a:extLst>
          </p:cNvPr>
          <p:cNvSpPr/>
          <p:nvPr/>
        </p:nvSpPr>
        <p:spPr>
          <a:xfrm>
            <a:off x="475486" y="3305829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MISO</a:t>
            </a:r>
            <a:endParaRPr lang="en-US" sz="10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01373496-9F0C-1184-755F-04BB62C8D3F2}"/>
              </a:ext>
            </a:extLst>
          </p:cNvPr>
          <p:cNvSpPr/>
          <p:nvPr/>
        </p:nvSpPr>
        <p:spPr>
          <a:xfrm>
            <a:off x="475484" y="3428909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CLK</a:t>
            </a:r>
            <a:endParaRPr lang="en-US" sz="100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910D4B2E-0A5C-8C0C-C259-0A43AF4D054E}"/>
              </a:ext>
            </a:extLst>
          </p:cNvPr>
          <p:cNvSpPr/>
          <p:nvPr/>
        </p:nvSpPr>
        <p:spPr>
          <a:xfrm>
            <a:off x="475482" y="3547781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5 - MOSI</a:t>
            </a:r>
            <a:endParaRPr lang="en-US" sz="10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71FC32E1-F2F7-4458-F2D0-6A347DA11C93}"/>
              </a:ext>
            </a:extLst>
          </p:cNvPr>
          <p:cNvSpPr/>
          <p:nvPr/>
        </p:nvSpPr>
        <p:spPr>
          <a:xfrm>
            <a:off x="475480" y="3666653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 GND</a:t>
            </a:r>
            <a:endParaRPr lang="en-US" sz="10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0BE09FB-0382-5DCC-9B0C-509180481BF6}"/>
              </a:ext>
            </a:extLst>
          </p:cNvPr>
          <p:cNvSpPr/>
          <p:nvPr/>
        </p:nvSpPr>
        <p:spPr>
          <a:xfrm>
            <a:off x="475478" y="3781522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7 - SCL</a:t>
            </a:r>
            <a:endParaRPr lang="en-US" sz="10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C26DC42D-1CCA-4D44-83B1-81E3284D52A6}"/>
              </a:ext>
            </a:extLst>
          </p:cNvPr>
          <p:cNvSpPr/>
          <p:nvPr/>
        </p:nvSpPr>
        <p:spPr>
          <a:xfrm>
            <a:off x="475476" y="3912154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8 - SDA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34A6A3-6260-647E-5C77-8F82F95C71FC}"/>
              </a:ext>
            </a:extLst>
          </p:cNvPr>
          <p:cNvSpPr/>
          <p:nvPr/>
        </p:nvSpPr>
        <p:spPr>
          <a:xfrm>
            <a:off x="475474" y="4028957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9 - GPIO8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F770D32-5A65-0E7E-C195-BBD0203E6A9F}"/>
              </a:ext>
            </a:extLst>
          </p:cNvPr>
          <p:cNvSpPr/>
          <p:nvPr/>
        </p:nvSpPr>
        <p:spPr>
          <a:xfrm>
            <a:off x="475488" y="4148170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GPIO2</a:t>
            </a:r>
            <a:endParaRPr lang="en-US" sz="1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161CB7E-384E-10B1-7537-720BE7DA75E0}"/>
              </a:ext>
            </a:extLst>
          </p:cNvPr>
          <p:cNvSpPr/>
          <p:nvPr/>
        </p:nvSpPr>
        <p:spPr>
          <a:xfrm>
            <a:off x="475460" y="4258239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11 - GPIO1</a:t>
            </a:r>
            <a:endParaRPr lang="en-US" sz="10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A353B3C-DD69-ED19-44D0-5567C2F9E4AD}"/>
              </a:ext>
            </a:extLst>
          </p:cNvPr>
          <p:cNvSpPr/>
          <p:nvPr/>
        </p:nvSpPr>
        <p:spPr>
          <a:xfrm>
            <a:off x="475432" y="4372085"/>
            <a:ext cx="1407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12 - GND</a:t>
            </a:r>
            <a:endParaRPr lang="en-US" sz="1000" dirty="0"/>
          </a:p>
        </p:txBody>
      </p:sp>
      <p:sp>
        <p:nvSpPr>
          <p:cNvPr id="22" name="Parentesi graffa chiusa 21">
            <a:extLst>
              <a:ext uri="{FF2B5EF4-FFF2-40B4-BE49-F238E27FC236}">
                <a16:creationId xmlns:a16="http://schemas.microsoft.com/office/drawing/2014/main" id="{1B565AFE-F61C-7380-5F43-E23ED04FA32D}"/>
              </a:ext>
            </a:extLst>
          </p:cNvPr>
          <p:cNvSpPr/>
          <p:nvPr/>
        </p:nvSpPr>
        <p:spPr>
          <a:xfrm>
            <a:off x="959893" y="3375935"/>
            <a:ext cx="259307" cy="377200"/>
          </a:xfrm>
          <a:prstGeom prst="rightBrac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7C17415-72D3-4A7E-08D0-459F5BA5C769}"/>
              </a:ext>
            </a:extLst>
          </p:cNvPr>
          <p:cNvSpPr/>
          <p:nvPr/>
        </p:nvSpPr>
        <p:spPr>
          <a:xfrm>
            <a:off x="1289151" y="3428909"/>
            <a:ext cx="635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SPI0 Shared with SD</a:t>
            </a:r>
            <a:endParaRPr lang="en-US" sz="1000" dirty="0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6FC24A8C-508F-97A0-36EF-37FED6CE5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649" y="2902128"/>
            <a:ext cx="2070708" cy="19476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3" name="Shape 30">
            <a:extLst>
              <a:ext uri="{FF2B5EF4-FFF2-40B4-BE49-F238E27FC236}">
                <a16:creationId xmlns:a16="http://schemas.microsoft.com/office/drawing/2014/main" id="{6FE740D2-58C3-FC71-AAFA-DD73F4492063}"/>
              </a:ext>
            </a:extLst>
          </p:cNvPr>
          <p:cNvSpPr/>
          <p:nvPr/>
        </p:nvSpPr>
        <p:spPr>
          <a:xfrm>
            <a:off x="3329074" y="3031895"/>
            <a:ext cx="1222838" cy="1217245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C8E9164D-06E9-FB81-29BB-6C7C13D61A1D}"/>
              </a:ext>
            </a:extLst>
          </p:cNvPr>
          <p:cNvSpPr/>
          <p:nvPr/>
        </p:nvSpPr>
        <p:spPr>
          <a:xfrm>
            <a:off x="3443079" y="3065425"/>
            <a:ext cx="505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000" dirty="0"/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0E26551-76BB-44B8-0A4D-DA7405953CD6}"/>
              </a:ext>
            </a:extLst>
          </p:cNvPr>
          <p:cNvCxnSpPr>
            <a:cxnSpLocks/>
          </p:cNvCxnSpPr>
          <p:nvPr/>
        </p:nvCxnSpPr>
        <p:spPr>
          <a:xfrm>
            <a:off x="3874074" y="3216526"/>
            <a:ext cx="1496705" cy="377588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16">
            <a:extLst>
              <a:ext uri="{FF2B5EF4-FFF2-40B4-BE49-F238E27FC236}">
                <a16:creationId xmlns:a16="http://schemas.microsoft.com/office/drawing/2014/main" id="{3D5A9C12-2765-3AF7-1713-0902D988691C}"/>
              </a:ext>
            </a:extLst>
          </p:cNvPr>
          <p:cNvSpPr/>
          <p:nvPr/>
        </p:nvSpPr>
        <p:spPr>
          <a:xfrm>
            <a:off x="3443079" y="3391185"/>
            <a:ext cx="80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Charging State LED</a:t>
            </a:r>
            <a:endParaRPr lang="en-US" sz="1000" dirty="0"/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545A596F-E968-71A0-D05E-F4B0F8089616}"/>
              </a:ext>
            </a:extLst>
          </p:cNvPr>
          <p:cNvCxnSpPr>
            <a:cxnSpLocks/>
          </p:cNvCxnSpPr>
          <p:nvPr/>
        </p:nvCxnSpPr>
        <p:spPr>
          <a:xfrm>
            <a:off x="4226550" y="3511591"/>
            <a:ext cx="834880" cy="43281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16">
            <a:extLst>
              <a:ext uri="{FF2B5EF4-FFF2-40B4-BE49-F238E27FC236}">
                <a16:creationId xmlns:a16="http://schemas.microsoft.com/office/drawing/2014/main" id="{434BECD7-607F-2B5A-9841-98380BCB1340}"/>
              </a:ext>
            </a:extLst>
          </p:cNvPr>
          <p:cNvSpPr/>
          <p:nvPr/>
        </p:nvSpPr>
        <p:spPr>
          <a:xfrm>
            <a:off x="3443079" y="3767623"/>
            <a:ext cx="80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Switch</a:t>
            </a:r>
            <a:endParaRPr lang="en-US" sz="1000" dirty="0"/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05DA6CC2-F1C6-FFE5-BE5F-198BA2B81B3E}"/>
              </a:ext>
            </a:extLst>
          </p:cNvPr>
          <p:cNvCxnSpPr>
            <a:cxnSpLocks/>
          </p:cNvCxnSpPr>
          <p:nvPr/>
        </p:nvCxnSpPr>
        <p:spPr>
          <a:xfrm>
            <a:off x="4226550" y="3944407"/>
            <a:ext cx="680205" cy="304733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hape 30">
            <a:extLst>
              <a:ext uri="{FF2B5EF4-FFF2-40B4-BE49-F238E27FC236}">
                <a16:creationId xmlns:a16="http://schemas.microsoft.com/office/drawing/2014/main" id="{B032071E-EAF4-9519-79C8-929F644C203F}"/>
              </a:ext>
            </a:extLst>
          </p:cNvPr>
          <p:cNvSpPr/>
          <p:nvPr/>
        </p:nvSpPr>
        <p:spPr>
          <a:xfrm>
            <a:off x="7030094" y="2830203"/>
            <a:ext cx="1222838" cy="1009571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955D7BBC-5954-B9C1-4D88-D3E938D26CEF}"/>
              </a:ext>
            </a:extLst>
          </p:cNvPr>
          <p:cNvSpPr/>
          <p:nvPr/>
        </p:nvSpPr>
        <p:spPr>
          <a:xfrm>
            <a:off x="7545322" y="3059327"/>
            <a:ext cx="601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IO0 Button</a:t>
            </a:r>
            <a:endParaRPr lang="en-US" sz="1000" dirty="0"/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6BF8E92C-04DB-B6C3-5CAA-CE819A3B1366}"/>
              </a:ext>
            </a:extLst>
          </p:cNvPr>
          <p:cNvCxnSpPr>
            <a:cxnSpLocks/>
          </p:cNvCxnSpPr>
          <p:nvPr/>
        </p:nvCxnSpPr>
        <p:spPr>
          <a:xfrm flipH="1">
            <a:off x="6258169" y="3216526"/>
            <a:ext cx="1196168" cy="599622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16">
            <a:extLst>
              <a:ext uri="{FF2B5EF4-FFF2-40B4-BE49-F238E27FC236}">
                <a16:creationId xmlns:a16="http://schemas.microsoft.com/office/drawing/2014/main" id="{53F7CDD7-ECBA-72A3-7BEC-CD0D4C7ECD7F}"/>
              </a:ext>
            </a:extLst>
          </p:cNvPr>
          <p:cNvSpPr/>
          <p:nvPr/>
        </p:nvSpPr>
        <p:spPr>
          <a:xfrm>
            <a:off x="7545321" y="3374431"/>
            <a:ext cx="601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LED</a:t>
            </a:r>
            <a:endParaRPr lang="en-US" sz="1000" dirty="0"/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4446C5A0-E216-AE94-5CD4-3BC826D998A9}"/>
              </a:ext>
            </a:extLst>
          </p:cNvPr>
          <p:cNvCxnSpPr>
            <a:cxnSpLocks/>
          </p:cNvCxnSpPr>
          <p:nvPr/>
        </p:nvCxnSpPr>
        <p:spPr>
          <a:xfrm flipH="1">
            <a:off x="5995916" y="3528345"/>
            <a:ext cx="1499364" cy="84374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Immagine 64">
            <a:extLst>
              <a:ext uri="{FF2B5EF4-FFF2-40B4-BE49-F238E27FC236}">
                <a16:creationId xmlns:a16="http://schemas.microsoft.com/office/drawing/2014/main" id="{29A94CD2-E88E-62AA-E6D9-8AC400B508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" b="16226"/>
          <a:stretch>
            <a:fillRect/>
          </a:stretch>
        </p:blipFill>
        <p:spPr>
          <a:xfrm>
            <a:off x="3253353" y="329935"/>
            <a:ext cx="1797933" cy="1584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6" name="Shape 30">
            <a:extLst>
              <a:ext uri="{FF2B5EF4-FFF2-40B4-BE49-F238E27FC236}">
                <a16:creationId xmlns:a16="http://schemas.microsoft.com/office/drawing/2014/main" id="{7EEE0131-CB89-B893-3750-47379D156535}"/>
              </a:ext>
            </a:extLst>
          </p:cNvPr>
          <p:cNvSpPr/>
          <p:nvPr/>
        </p:nvSpPr>
        <p:spPr>
          <a:xfrm>
            <a:off x="3257722" y="2031842"/>
            <a:ext cx="880008" cy="435584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34CC2BAB-8529-F994-6582-3A2C75829C24}"/>
              </a:ext>
            </a:extLst>
          </p:cNvPr>
          <p:cNvSpPr/>
          <p:nvPr/>
        </p:nvSpPr>
        <p:spPr>
          <a:xfrm>
            <a:off x="3346249" y="2103115"/>
            <a:ext cx="88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Slot</a:t>
            </a:r>
            <a:endParaRPr lang="en-US" sz="1000" dirty="0"/>
          </a:p>
        </p:txBody>
      </p:sp>
      <p:pic>
        <p:nvPicPr>
          <p:cNvPr id="72" name="Immagine 71">
            <a:extLst>
              <a:ext uri="{FF2B5EF4-FFF2-40B4-BE49-F238E27FC236}">
                <a16:creationId xmlns:a16="http://schemas.microsoft.com/office/drawing/2014/main" id="{A6D5626D-6AC5-659E-36A9-213048364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161" y="1036156"/>
            <a:ext cx="1632010" cy="14768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3" name="Shape 30">
            <a:extLst>
              <a:ext uri="{FF2B5EF4-FFF2-40B4-BE49-F238E27FC236}">
                <a16:creationId xmlns:a16="http://schemas.microsoft.com/office/drawing/2014/main" id="{3A069BEE-D9A7-AF56-394E-60284FDDE6CA}"/>
              </a:ext>
            </a:extLst>
          </p:cNvPr>
          <p:cNvSpPr/>
          <p:nvPr/>
        </p:nvSpPr>
        <p:spPr>
          <a:xfrm>
            <a:off x="5378161" y="527834"/>
            <a:ext cx="880008" cy="435584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7D9D557F-FBCB-F68A-17BB-53383BA9284C}"/>
              </a:ext>
            </a:extLst>
          </p:cNvPr>
          <p:cNvSpPr/>
          <p:nvPr/>
        </p:nvSpPr>
        <p:spPr>
          <a:xfrm>
            <a:off x="5468476" y="606913"/>
            <a:ext cx="88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Pot</a:t>
            </a:r>
            <a:endParaRPr lang="en-US" sz="1000" dirty="0"/>
          </a:p>
        </p:txBody>
      </p:sp>
      <p:pic>
        <p:nvPicPr>
          <p:cNvPr id="76" name="Immagine 75">
            <a:extLst>
              <a:ext uri="{FF2B5EF4-FFF2-40B4-BE49-F238E27FC236}">
                <a16:creationId xmlns:a16="http://schemas.microsoft.com/office/drawing/2014/main" id="{5BDDD0AC-6B23-3C92-9B8E-15A9BF4EE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767" y="399778"/>
            <a:ext cx="1570948" cy="1127280"/>
          </a:xfrm>
          <a:prstGeom prst="rect">
            <a:avLst/>
          </a:prstGeom>
        </p:spPr>
      </p:pic>
      <p:sp>
        <p:nvSpPr>
          <p:cNvPr id="77" name="Shape 30">
            <a:extLst>
              <a:ext uri="{FF2B5EF4-FFF2-40B4-BE49-F238E27FC236}">
                <a16:creationId xmlns:a16="http://schemas.microsoft.com/office/drawing/2014/main" id="{8EF191EE-CC8B-5065-3164-E1FDCE0F4EF2}"/>
              </a:ext>
            </a:extLst>
          </p:cNvPr>
          <p:cNvSpPr/>
          <p:nvPr/>
        </p:nvSpPr>
        <p:spPr>
          <a:xfrm>
            <a:off x="7226767" y="1607241"/>
            <a:ext cx="880008" cy="435584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FD0436C0-0B80-D4B8-8DDD-C2594705C639}"/>
              </a:ext>
            </a:extLst>
          </p:cNvPr>
          <p:cNvSpPr/>
          <p:nvPr/>
        </p:nvSpPr>
        <p:spPr>
          <a:xfrm>
            <a:off x="7437776" y="1671228"/>
            <a:ext cx="88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2055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5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97840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932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Bluetooth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25272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ESP32S3-WROOM-1 N16R8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dual-band connectivity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86868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97840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932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&amp; Auto-Reset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7168" y="125272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CH340C for Arduino IDE / IDF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Auto-reset circuit for easy upload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86868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978408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932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125272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MCP73831 battery charger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monitor on GPIO6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86868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978408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932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I2C Buttons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125272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PCF8574 via I2C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 + BOOT included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78892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289864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 Audio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" y="31729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PCM5102 I2S audio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3W speaker output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volume potentiometer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278892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87168" y="2898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2.4" TFT Display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87168" y="31729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ILI9341 320×240 px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SPI1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278892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36008" y="2898648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Slot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36008" y="31729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SPI0 interface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storage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2788920"/>
            <a:ext cx="2011680" cy="173736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84848" y="2898648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Expansion Slot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84848" y="31729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12-pin header: VCC, GND,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SPI0 shared, I2C, GPIO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Perfect for every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2011680" cy="329184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6304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Smart Home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home automation, cloud dashboards. Built-in Wi-Fi ready for MQTT, HTTP, WebSocket.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463040"/>
            <a:ext cx="2011680" cy="329184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463040"/>
            <a:ext cx="20116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78608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Console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display + 8 buttons + 3W audio = complete retro gaming platform out-of-the-box.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1463040"/>
            <a:ext cx="2011680" cy="329184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1463040"/>
            <a:ext cx="201168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B923C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91456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1456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Audiophile-grade PCM5102 I2S DAC. Wi-Fi streaming, SD Card player, DSP equalizer. Side volume knob for direct control.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67144" y="1463040"/>
            <a:ext cx="2011680" cy="3291840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7144" y="1463040"/>
            <a:ext cx="2011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A5E9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04304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04304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RST/BOOT, auto-reset, USB-C: zero config. From idea to firmware in minutes with Arduino IDE or IDF.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SPECIFICATIONS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1480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ESP32S3-WROOM-1 N16R8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44168"/>
            <a:ext cx="41148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441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344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65376"/>
            <a:ext cx="411480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653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PSRAM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8653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86584"/>
            <a:ext cx="41148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865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Wireless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3865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 b/g/n + Bluetooth 5 / 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07792"/>
            <a:ext cx="411480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077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9077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 (CH340C), Arduino IDE &amp; ESP-IDF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429000"/>
            <a:ext cx="41148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290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5V or LiPoly Battery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950208"/>
            <a:ext cx="411480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50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Charger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950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MCP73831, charging via USB-C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1148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714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Monitor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44714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822960"/>
            <a:ext cx="425196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229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822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tactile via PCF8574 (I2C) + RESET + BOOT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344168"/>
            <a:ext cx="42519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3441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344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Charlieplexing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865376"/>
            <a:ext cx="425196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8653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18653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ILI9341 2.4" TFT 320×240 px (SPI1)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386584"/>
            <a:ext cx="42519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3865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386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PCM5102 I2S DAC + 3W Amplifier + Side Volume Pot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907792"/>
            <a:ext cx="425196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29077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Card Slot (SPI0)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429000"/>
            <a:ext cx="42519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4290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3429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ON/OFF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950208"/>
            <a:ext cx="4251960" cy="475488"/>
          </a:xfrm>
          <a:prstGeom prst="rect">
            <a:avLst/>
          </a:prstGeom>
          <a:solidFill>
            <a:srgbClr val="1A1410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950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3950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blue protective enclosure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4471416"/>
            <a:ext cx="42519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24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4714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44714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PCBWay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C45400"/>
          </a:solidFill>
          <a:ln w="12700">
            <a:solidFill>
              <a:srgbClr val="C45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4884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NUVOLA32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your maker projects is here.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90779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&amp; Hobbyists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2552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82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University researchers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IoT developers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020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77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Retrogaming enthusiasts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24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4251960" cy="2267348"/>
          </a:xfrm>
          <a:prstGeom prst="rect">
            <a:avLst/>
          </a:prstGeom>
          <a:solidFill>
            <a:srgbClr val="1A1410"/>
          </a:solidFill>
          <a:ln w="12700">
            <a:solidFill>
              <a:srgbClr val="C45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77440"/>
            <a:ext cx="4251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buy?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Official Website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makersun.net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PCBWay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Open Source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&amp; schematics available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2D2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DREAM. CODE. CREATE.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539</Words>
  <Application>Microsoft Office PowerPoint</Application>
  <PresentationFormat>Presentazione su schermo (16:9)</PresentationFormat>
  <Paragraphs>143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NUVOLA32 — Sales Launch</dc:title>
  <dc:subject>PptxGenJS Presentation</dc:subject>
  <dc:creator>PptxGenJS</dc:creator>
  <cp:lastModifiedBy>AMBROSI, Adriano</cp:lastModifiedBy>
  <cp:revision>2</cp:revision>
  <dcterms:created xsi:type="dcterms:W3CDTF">2026-04-25T12:44:29Z</dcterms:created>
  <dcterms:modified xsi:type="dcterms:W3CDTF">2026-05-08T10:41:05Z</dcterms:modified>
</cp:coreProperties>
</file>